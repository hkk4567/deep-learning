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76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0A4A3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54864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4" name="Shape 2"/>
          <p:cNvSpPr/>
          <p:nvPr/>
        </p:nvSpPr>
        <p:spPr>
          <a:xfrm>
            <a:off x="10652760" y="54864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54864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132588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7" name="Shape 5"/>
          <p:cNvSpPr/>
          <p:nvPr/>
        </p:nvSpPr>
        <p:spPr>
          <a:xfrm>
            <a:off x="10652760" y="132588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1325880"/>
            <a:ext cx="164592" cy="164592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Giá Nhà bằng Mô hình Học Máy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E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Ridge Regression và XGBoost trên bộ dữ liệu Ames Housing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1280160" cy="0"/>
          </a:xfrm>
          <a:prstGeom prst="line">
            <a:avLst/>
          </a:prstGeom>
          <a:noFill/>
          <a:ln w="38100">
            <a:solidFill>
              <a:srgbClr val="E6A7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Huỳnh Kiện Khải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E7C4"/>
                </a:solidFill>
              </a:rPr>
              <a:t>Khoa Công nghệ Thông tin — Trường Đại học Sài Gòn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60020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Quy trình tổng thể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Giới thiệu bài toán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60020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Dữ liệu &amp; Kiểm toán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6948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60020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Khám phá dữ liệu (EDA)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55480" y="137160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2720" y="160020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332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Lựa chọn đặc trưng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" y="34747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370332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887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Tiền xử lý dữ liệu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697480" y="34747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70332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283464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Mô hình hoạt động ra sao?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983480" y="34747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370332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607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Thí nghiệm &amp; So sánh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269480" y="34747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370332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467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740664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Kết quả cuối (Test)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555480" y="347472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32720" y="3703320"/>
            <a:ext cx="548640" cy="5486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33272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969264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1F"/>
                </a:solidFill>
              </a:rPr>
              <a:t>Phân tích lỗi &amp; Kết luận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tổng thể (Pipeline)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1945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23042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281635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Kiểm toán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32735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</a:rPr>
              <a:t>Missing, trùng lặp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57400" y="2953512"/>
            <a:ext cx="256032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0" name="Shape 8"/>
          <p:cNvSpPr/>
          <p:nvPr/>
        </p:nvSpPr>
        <p:spPr>
          <a:xfrm>
            <a:off x="2313432" y="21945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3042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386584" y="281635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EDA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86584" y="32735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</a:rPr>
              <a:t>Chỉ trên train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05072" y="2953512"/>
            <a:ext cx="256032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61104" y="21945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61104" y="23042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334256" y="281635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Chọn đặc trưng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34256" y="32735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</a:rPr>
              <a:t>79 → 71 cột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52744" y="2953512"/>
            <a:ext cx="256032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08776" y="21945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08776" y="23042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281635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Tiền xử lý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32735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</a:rPr>
              <a:t>Encode, impute, scale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00416" y="2953512"/>
            <a:ext cx="256032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156448" y="21945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56448" y="23042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281635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Huấn luyện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2735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</a:rPr>
              <a:t>5 cấu hình mô hình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48088" y="2953512"/>
            <a:ext cx="256032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04120" y="21945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E8F5E9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04120" y="23042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10177272" y="2816352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Đánh giá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177272" y="32735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</a:rPr>
              <a:t>Test — mở 1 lần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2A1F"/>
                </a:solidFill>
              </a:rPr>
              <a:t>Mỗi bước đều được ghi log (Change_Log, Findings, Experiments) trong change_log.xlsx — không rò rỉ thông tin giữa train/val/test qua bất kỳ bước nào.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Giới thiệu bài toán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E5C4A"/>
                </a:solidFill>
              </a:rPr>
              <a:t>Bài toán: </a:t>
            </a:r>
            <a:r>
              <a:rPr lang="en-US" sz="1600" dirty="0">
                <a:solidFill>
                  <a:srgbClr val="1F2A1F"/>
                </a:solidFill>
              </a:rPr>
              <a:t>Dự đoán giá bán nhà (SalePrice) từ đặc điểm căn nhà — hồi quy trên dữ liệu bảng.
</a:t>
            </a:r>
            <a:r>
              <a:rPr lang="en-US" sz="1600" b="1" dirty="0">
                <a:solidFill>
                  <a:srgbClr val="0E5C4A"/>
                </a:solidFill>
              </a:rPr>
              <a:t>Vì sao quan trọng: </a:t>
            </a:r>
            <a:r>
              <a:rPr lang="en-US" sz="1600" dirty="0">
                <a:solidFill>
                  <a:srgbClr val="1F2A1F"/>
                </a:solidFill>
              </a:rPr>
              <a:t>Định giá bất động sản ảnh hưởng người mua, người bán, tổ chức tín dụng.
</a:t>
            </a:r>
            <a:r>
              <a:rPr lang="en-US" sz="1600" b="1" dirty="0">
                <a:solidFill>
                  <a:srgbClr val="0E5C4A"/>
                </a:solidFill>
              </a:rPr>
              <a:t>Bộ dữ liệu: </a:t>
            </a:r>
            <a:r>
              <a:rPr lang="en-US" sz="1600" dirty="0">
                <a:solidFill>
                  <a:srgbClr val="1F2A1F"/>
                </a:solidFill>
              </a:rPr>
              <a:t>Ames Housing (Kaggle House Prices) — 1460 căn nhà, 79 đặc trưng, Ames, Iowa (2006–2010).
</a:t>
            </a:r>
            <a:r>
              <a:rPr lang="en-US" sz="1600" b="1" dirty="0">
                <a:solidFill>
                  <a:srgbClr val="0E5C4A"/>
                </a:solidFill>
              </a:rPr>
              <a:t>Mục tiêu nghiên cứu: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10201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A7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5004985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1F"/>
                </a:solidFill>
              </a:rPr>
              <a:t>Quy trình tiền xử lý không rò rỉ thông tin (train/val/test)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564811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A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5579533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1F"/>
                </a:solidFill>
              </a:rPr>
              <a:t>So sánh Ridge Regression (tuyến tính) vs XGBoost (cây tăng cường)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61950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6A7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61264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1F"/>
                </a:solidFill>
              </a:rPr>
              <a:t>Phân tích lỗi để hiểu giới hạn thực tiễn của mô hình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Dữ liệu &amp; Kiểm toán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303520" cy="3200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Đặc điểm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Giá trị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Số dòng gốc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1460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Số đặc trưng gốc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79 (36 số, 43 hạng mục)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Dòng trùng lặp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Cột có missing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Ngoại lai đã loại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 (Id=524, 1299 — Partial sale)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Chia train/val/test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1020 / 219 / 219 (seed=42)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C4A"/>
                </a:solidFill>
              </a:rPr>
              <a:t>Missing đáng chú ý (% dòng thiếu)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394960" cy="193548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Cột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% thiếu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Ý nghĩa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PoolQC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99.4%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có hồ bơi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MiscFeature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96.0%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có tiện ích đặc biệt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Alley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93.4%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có lối hẻm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MasVnrType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59.2%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Không ốp mặt tiền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39319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3CD"/>
          </a:solidFill>
          <a:ln w="12700">
            <a:solidFill>
              <a:srgbClr val="E6A7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0" y="4023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</a:rPr>
              <a:t>Phần lớn missing mang tính "ngữ nghĩa" (nhà không có đặc điểm đó), không phải lỗi nhập liệu — quyết định: điền giá trị 0/"None", không dùng median/mode mặc định.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Khám phá dữ liệu (chỉ trên train)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pic>
        <p:nvPicPr>
          <p:cNvPr id="5" name="Image 0" descr="poster_assets/fig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6035040" cy="43251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766560" y="137160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E5C4A"/>
                </a:solidFill>
              </a:rPr>
              <a:t>Phát hiện chính
</a:t>
            </a:r>
            <a:r>
              <a:rPr lang="en-US" sz="1400" dirty="0">
                <a:solidFill>
                  <a:srgbClr val="1F2A1F"/>
                </a:solidFill>
              </a:rPr>
              <a:t>• SalePrice lệch phải (skew=1.73) → log1p còn 0.15
• Top tương quan: OverallQual (0.79), GrLivArea (0.69), GarageCars (0.64)
• ExterQual, FireplaceQu: bậc thang tăng rõ theo chất lượng
• Phát hiện 2 ngoại lai đã biết của dataset (đã loại khỏi train)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Lựa chọn đặc trưng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5C4A"/>
                </a:solidFill>
              </a:rPr>
              <a:t>79 đặc trưng gốc → 71 đặc trưng chọn lọc theo 9 nhóm nghiệp vụ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Khu đất (11)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16352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Vị trí (3)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4064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Chất lượng nhà (17)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51776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51776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Móng/Tầng hầm (11)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19488" y="16916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19488" y="1691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Hệ thống (4)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Diện tích sinh hoạt (13)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16352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Garage (7)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84064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84064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Đường vào (1)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51776" y="246888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51776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1F"/>
                </a:solidFill>
              </a:rPr>
              <a:t>Giao dịch (4)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FFF3CD"/>
          </a:solidFill>
          <a:ln w="12700">
            <a:solidFill>
              <a:srgbClr val="E6A7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70332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A6D00"/>
                </a:solidFill>
              </a:rPr>
              <a:t>Đối </a:t>
            </a:r>
            <a:r>
              <a:rPr lang="en-US" sz="1600" b="1" dirty="0" err="1">
                <a:solidFill>
                  <a:srgbClr val="8A6D00"/>
                </a:solidFill>
              </a:rPr>
              <a:t>chiếu</a:t>
            </a:r>
            <a:r>
              <a:rPr lang="en-US" sz="1600" b="1" dirty="0">
                <a:solidFill>
                  <a:srgbClr val="8A6D00"/>
                </a:solidFill>
              </a:rPr>
              <a:t> </a:t>
            </a:r>
            <a:r>
              <a:rPr lang="en-US" sz="1600" b="1" dirty="0" err="1">
                <a:solidFill>
                  <a:srgbClr val="8A6D00"/>
                </a:solidFill>
              </a:rPr>
              <a:t>với</a:t>
            </a:r>
            <a:r>
              <a:rPr lang="en-US" sz="1600" b="1" dirty="0">
                <a:solidFill>
                  <a:srgbClr val="8A6D00"/>
                </a:solidFill>
              </a:rPr>
              <a:t> EDA toàn bộ 79 cột
</a:t>
            </a:r>
            <a:r>
              <a:rPr lang="en-US" sz="1400" dirty="0">
                <a:solidFill>
                  <a:srgbClr val="000000"/>
                </a:solidFill>
              </a:rPr>
              <a:t>8 cột loại đúng (tín hiệu yếu): PoolArea, PoolQC, Fence, MiscFeature, MiscVal, EnclosedPorch, 3SsnPorch, </a:t>
            </a:r>
            <a:r>
              <a:rPr lang="en-US" sz="1400" dirty="0" err="1">
                <a:solidFill>
                  <a:srgbClr val="000000"/>
                </a:solidFill>
              </a:rPr>
              <a:t>ScreenPorch</a:t>
            </a:r>
            <a:r>
              <a:rPr lang="en-US" sz="1400" b="1" dirty="0">
                <a:solidFill>
                  <a:srgbClr val="1B5E20"/>
                </a:solidFill>
              </a:rPr>
              <a:t>
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Tiền xử lý dữ liệu (1/2) — Quy tắc cố định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</a:rPr>
              <a:t>Bước 1: áp dụng đồng nhất cho train/val/test (không học từ dữ liệu)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4A"/>
                </a:solidFill>
              </a:rPr>
              <a:t>Ví dụ mã hóa Ordinal — ExterQual (chất lượng ngoại thất)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FFE0E0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659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1F"/>
                </a:solidFill>
              </a:rPr>
              <a:t>Po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→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2148840"/>
            <a:ext cx="18288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1920240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91640" y="19659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1F"/>
                </a:solidFill>
              </a:rPr>
              <a:t>Fa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→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148840"/>
            <a:ext cx="18288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1920240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19659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1F"/>
                </a:solidFill>
              </a:rPr>
              <a:t>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→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2148840"/>
            <a:ext cx="18288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794760" y="1920240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19659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1F"/>
                </a:solidFill>
              </a:rPr>
              <a:t>Gd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→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148840"/>
            <a:ext cx="18288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1920240"/>
            <a:ext cx="868680" cy="685800"/>
          </a:xfrm>
          <a:prstGeom prst="roundRect">
            <a:avLst>
              <a:gd name="adj" fmla="val 10667"/>
            </a:avLst>
          </a:prstGeom>
          <a:solidFill>
            <a:srgbClr val="E8F5E9"/>
          </a:solidFill>
          <a:ln w="12700">
            <a:solidFill>
              <a:srgbClr val="0E5C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19659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1F"/>
                </a:solidFill>
              </a:rPr>
              <a:t>Ex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286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→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</a:rPr>
              <a:t>Giữ đúng thứ tự chất lượng — one-hot sẽ làm mất thông tin "Ex tốt hơn Gd"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4A"/>
                </a:solidFill>
              </a:rPr>
              <a:t>Điền giá trị 0 cho "thiếu có ý nghĩa"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486400" cy="1234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Cột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Khi thiếu →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7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MasVnrArea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 (không ốp mặt tiền)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GarageYrBlt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 (không có garage)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675120" y="1463040"/>
            <a:ext cx="49377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037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4A"/>
                </a:solidFill>
              </a:rPr>
              <a:t>18 cột Ordinal được mã hóa: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20116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1F"/>
                </a:solidFill>
              </a:rPr>
              <a:t>ExterQual, ExterCond, BsmtQual, BsmtCond, BsmtExposure, BsmtFinType1/2, HeatingQC, KitchenQual, Functional, GarageFinish, GarageQual, GarageCond, PavedDrive, LandSlope, LotShape, Utilities, FireplaceQu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903720" y="3977640"/>
            <a:ext cx="4480560" cy="0"/>
          </a:xfrm>
          <a:prstGeom prst="line">
            <a:avLst/>
          </a:prstGeom>
          <a:noFill/>
          <a:ln w="12700">
            <a:solidFill>
              <a:srgbClr val="E0E0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03720" y="4114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+ Loại 2 dòng ngoại lai (Id=524, 1299) khỏi train trước khi fit mô hình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Tiền xử lý dữ liệu (2/2) — Học từ train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5C4A"/>
                </a:solidFill>
              </a:rPr>
              <a:t>LotFrontage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1F"/>
                </a:solidFill>
              </a:rPr>
              <a:t>Median-impute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1F"/>
                </a:solidFill>
              </a:rPr>
              <a:t>(học từ train)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856232"/>
            <a:ext cx="36576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2801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5C4A"/>
                </a:solidFill>
              </a:rPr>
              <a:t>22 cột danh định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8288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1F"/>
                </a:solidFill>
              </a:rPr>
              <a:t>One-Hot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1F"/>
                </a:solidFill>
              </a:rPr>
              <a:t>Encoding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1856232"/>
            <a:ext cx="36576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2801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5C4A"/>
                </a:solidFill>
              </a:rPr>
              <a:t>49 cột số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18288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1F"/>
                </a:solidFill>
              </a:rPr>
              <a:t>StandardScaler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1F"/>
                </a:solidFill>
              </a:rPr>
              <a:t>(học từ train)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2743200"/>
            <a:ext cx="274320" cy="365760"/>
          </a:xfrm>
          <a:prstGeom prst="downArrow">
            <a:avLst/>
          </a:prstGeom>
          <a:solidFill>
            <a:srgbClr val="E6A7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3200400"/>
            <a:ext cx="5760720" cy="109728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3337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C4A"/>
                </a:solidFill>
              </a:rPr>
              <a:t>205 đặc trưng sau mã hóa (49 số + 156 one-hot)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794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</a:rPr>
              <a:t>→ dùng cho toàn bộ 5 cấu hình mô hình ở phần sau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Mô hình hoạt động ra sao? — Ridge Regression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</a:rPr>
              <a:t>Ý tưởng: phạt các hệ số lớn để tránh mô hình "tự tin thái quá" vào vài đặc trưng hiếm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Linear Regression (không phạt)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OverallQual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2359152"/>
            <a:ext cx="89611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Condition2=RRAe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0" y="3136392"/>
            <a:ext cx="2304288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Exterior1st=BrkComm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0" y="3913632"/>
            <a:ext cx="217627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GrLivArea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0" y="4690872"/>
            <a:ext cx="1024128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212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</a:rPr>
              <a:t>→ Hệ số bị "giật" bởi mức hạng mục chỉ có vài mẫu (phương sai cao)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</a:rPr>
              <a:t>Ridge Regression (có phạt L2, α=30)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OverallQual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95360" y="2359152"/>
            <a:ext cx="16002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GrLivArea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95360" y="3136392"/>
            <a:ext cx="155448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Neighborhood=Crawfor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95360" y="3913632"/>
            <a:ext cx="1143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4617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1F"/>
                </a:solidFill>
              </a:rPr>
              <a:t>Condition2=RRAe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95360" y="4690872"/>
            <a:ext cx="1143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5212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</a:rPr>
              <a:t>→ Hệ số ổn định, khớp với hiểu biết miền (OverallQual/GrLivArea mạnh nhất)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Mô hình hoạt động ra sao? — XGBoost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</a:rPr>
              <a:t>Ý tưởng: xây nhiều cây quyết định NHỎ tuần tự, mỗi cây sửa lỗi của các cây trước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Cây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2587752"/>
            <a:ext cx="50292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sai số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còn lại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0360" y="2103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Cây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2587752"/>
            <a:ext cx="50292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sai số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còn lại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2103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Cây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2587752"/>
            <a:ext cx="50292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sai số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còn lại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60920" y="2103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...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98280" y="2587752"/>
            <a:ext cx="502920" cy="219456"/>
          </a:xfrm>
          <a:prstGeom prst="rightArrow">
            <a:avLst/>
          </a:prstGeom>
          <a:solidFill>
            <a:srgbClr val="E6A7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982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sai số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</a:rPr>
              <a:t>còn lại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01200" y="210312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5C4A"/>
                </a:solidFill>
              </a:rPr>
              <a:t>Cây 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0" y="3429000"/>
            <a:ext cx="274320" cy="365760"/>
          </a:xfrm>
          <a:prstGeom prst="downArrow">
            <a:avLst/>
          </a:prstGeom>
          <a:solidFill>
            <a:srgbClr val="E6A700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39319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66160" y="3931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C4A"/>
                </a:solidFill>
              </a:rPr>
              <a:t>Dự đoán cuối = Σ (dự đoán từng cây)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</a:rPr>
              <a:t>Siêu tham số quan trọng: số cây (n_estimators), độ sâu cây (max_depth), tốc độ học (learning_rate) — đã tinh chỉnh bằng RandomizedSearchCV (60 vòng, 5-fold CV trên train).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Thí nghiệm &amp; So sánh mô hình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pic>
        <p:nvPicPr>
          <p:cNvPr id="5" name="Image 0" descr="poster_assets/rmsl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943600" cy="512064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80160"/>
          <a:ext cx="5029200" cy="30175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RMSLE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Hằng số (trung bình)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0.4060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XGBoost (mặc định)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0.1267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Linear Regression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0.1143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Ridge (α=30) — chọn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0.1155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XGBoost (đã tune)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0.1245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67512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4A"/>
                </a:solidFill>
              </a:rPr>
              <a:t>Vì sao chọn Ridge thay vì Linear Regression (RMSLE nhỉnh hơn)?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49377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1F"/>
                </a:solidFill>
              </a:rPr>
              <a:t>Linear Regression: hệ số bị chi phối bởi mức hạng mục hiếm (xem slide trước). Ridge: hệ số ổn định, khớp EDA — đánh đổi nhỏ về RMSLE lấy độ tin cậy.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Kết quả cuối trên tập kiểm tra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</a:rPr>
              <a:t>Test mở đúng 1 lần (219 mẫu, chưa từng dùng để chỉnh mô hình)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5C4A"/>
                </a:solidFill>
              </a:rPr>
              <a:t>0.1301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</a:rPr>
              <a:t>RMSLE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5C4A"/>
                </a:solidFill>
              </a:rPr>
              <a:t>$14,280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</a:rPr>
              <a:t>MAE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14630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5C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5C4A"/>
                </a:solidFill>
              </a:rPr>
              <a:t>0.943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</a:rPr>
              <a:t>R²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718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1F"/>
                </a:solidFill>
              </a:rPr>
              <a:t>95% CI (bootstrap 1000 lần): [0.099, 0.159] — chồng lấp với val → không overfit nghiêm trọng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5E20"/>
                </a:solidFill>
              </a:rPr>
              <a:t>So với tiêu chí thành công đã đề ra: RMSLE giảm từ 0.406 → 0.130 (giảm 68% so với baseline tầm thường).</a:t>
            </a:r>
            <a:endParaRPr lang="en-US" sz="1350" dirty="0"/>
          </a:p>
        </p:txBody>
      </p:sp>
      <p:pic>
        <p:nvPicPr>
          <p:cNvPr id="17" name="Image 0" descr="poster_assets/test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4572000" cy="45720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Phân tích lỗi &amp; Hạn chế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3CD"/>
          </a:solidFill>
          <a:ln w="12700">
            <a:solidFill>
              <a:srgbClr val="E6A7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6D00"/>
                </a:solidFill>
              </a:rPr>
              <a:t>6/10 </a:t>
            </a:r>
            <a:r>
              <a:rPr lang="en-US" sz="1500" dirty="0">
                <a:solidFill>
                  <a:srgbClr val="1F2A1F"/>
                </a:solidFill>
              </a:rPr>
              <a:t>dự đoán sai nhiều nhất trên val đều có SaleCondition ≠ Normal (Abnorml/Partial)
</a:t>
            </a:r>
            <a:r>
              <a:rPr lang="en-US" sz="1350" i="1" dirty="0">
                <a:solidFill>
                  <a:srgbClr val="6B6B6B"/>
                </a:solidFill>
              </a:rPr>
              <a:t>Ca cực đoan: nhà $34,900 (rẻ nhất dataset, bán gấp) — dự đoán lệch 131%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4A"/>
                </a:solidFill>
              </a:rPr>
              <a:t>Test chỉ 219 mẫu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</a:rPr>
              <a:t>Khoảng tin cậy bootstrap còn khá rộng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4A"/>
                </a:solidFill>
              </a:rPr>
              <a:t>Bảng ánh xạ ordinal cố định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</a:rPr>
              <a:t>Giá trị mới ngoài bảng sẽ gây lỗi thay vì âm thầm sai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0E5C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5C4A"/>
                </a:solidFill>
              </a:rPr>
              <a:t>Chỉ 1 thành phố, 1 giai đoạn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1F"/>
                </a:solidFill>
              </a:rPr>
              <a:t>Ames, Iowa 2006–2010 — không đại diện thị trường khác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E5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612880" y="137160"/>
            <a:ext cx="320040" cy="320040"/>
          </a:xfrm>
          <a:prstGeom prst="ellipse">
            <a:avLst/>
          </a:prstGeom>
          <a:solidFill>
            <a:srgbClr val="E6A7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5E20"/>
                </a:solidFill>
              </a:rPr>
              <a:t>✔ </a:t>
            </a:r>
            <a:r>
              <a:rPr lang="en-US" sz="1550" dirty="0">
                <a:solidFill>
                  <a:srgbClr val="1F2A1F"/>
                </a:solidFill>
              </a:rPr>
              <a:t>Xây dựng thành công pipeline dự đoán giá nhà với kiểm soát rò rỉ nghiêm ngặt qua toàn bộ vòng đời dữ liệu
</a:t>
            </a:r>
            <a:r>
              <a:rPr lang="en-US" sz="1600" b="1" dirty="0">
                <a:solidFill>
                  <a:srgbClr val="1B5E20"/>
                </a:solidFill>
              </a:rPr>
              <a:t>✔ </a:t>
            </a:r>
            <a:r>
              <a:rPr lang="en-US" sz="1550" dirty="0">
                <a:solidFill>
                  <a:srgbClr val="1F2A1F"/>
                </a:solidFill>
              </a:rPr>
              <a:t>Ridge Regression vượt trội XGBoost (kể cả đã tune) trên dữ liệu bảng quy mô nhỏ — hệ số ổn định, diễn giải được
</a:t>
            </a:r>
            <a:r>
              <a:rPr lang="en-US" sz="1600" b="1" dirty="0">
                <a:solidFill>
                  <a:srgbClr val="1B5E20"/>
                </a:solidFill>
              </a:rPr>
              <a:t>✔ </a:t>
            </a:r>
            <a:r>
              <a:rPr lang="en-US" sz="1550" dirty="0">
                <a:solidFill>
                  <a:srgbClr val="1F2A1F"/>
                </a:solidFill>
              </a:rPr>
              <a:t>RMSLE test = 0.1301, giảm 68% so với baseline
</a:t>
            </a:r>
            <a:r>
              <a:rPr lang="en-US" sz="1550" b="1" dirty="0">
                <a:solidFill>
                  <a:srgbClr val="0E5C4A"/>
                </a:solidFill>
              </a:rPr>
              <a:t>→ Hướng phát triển: </a:t>
            </a:r>
            <a:r>
              <a:rPr lang="en-US" sz="1550" dirty="0">
                <a:solidFill>
                  <a:srgbClr val="1F2A1F"/>
                </a:solidFill>
              </a:rPr>
              <a:t>đặc trưng tương tác với SaleCondition, stacking Ridge+XGBoost, nested cross-validation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10881360" cy="0"/>
          </a:xfrm>
          <a:prstGeom prst="line">
            <a:avLst/>
          </a:prstGeom>
          <a:noFill/>
          <a:ln w="12700">
            <a:solidFill>
              <a:srgbClr val="E0E0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6B6B"/>
                </a:solidFill>
              </a:rPr>
              <a:t>Cảm ơn đã theo dõi — Huỳnh Kiện Khải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7500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1523</Words>
  <Application>Microsoft Office PowerPoint</Application>
  <PresentationFormat>Widescreen</PresentationFormat>
  <Paragraphs>236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6</cp:revision>
  <dcterms:created xsi:type="dcterms:W3CDTF">2026-09-27T11:11:41Z</dcterms:created>
  <dcterms:modified xsi:type="dcterms:W3CDTF">2026-09-27T12:31:31Z</dcterms:modified>
</cp:coreProperties>
</file>
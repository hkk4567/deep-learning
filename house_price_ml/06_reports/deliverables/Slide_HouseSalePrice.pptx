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12188952" cy="2651760"/>
          </a:xfrm>
          <a:prstGeom prst="rect">
            <a:avLst/>
          </a:prstGeom>
          <a:solidFill>
            <a:srgbClr val="0A4A3B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548640"/>
            <a:ext cx="164592" cy="164592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4" name="Shape 2"/>
          <p:cNvSpPr/>
          <p:nvPr/>
        </p:nvSpPr>
        <p:spPr>
          <a:xfrm>
            <a:off x="10652760" y="548640"/>
            <a:ext cx="164592" cy="164592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548640"/>
            <a:ext cx="164592" cy="164592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0" y="1325880"/>
            <a:ext cx="164592" cy="164592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7" name="Shape 5"/>
          <p:cNvSpPr/>
          <p:nvPr/>
        </p:nvSpPr>
        <p:spPr>
          <a:xfrm>
            <a:off x="10652760" y="1325880"/>
            <a:ext cx="164592" cy="164592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0" y="1325880"/>
            <a:ext cx="164592" cy="164592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103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Giá Nhà bằng Mô hình Học Máy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DE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Ridge Regression và XGBoost trên bộ dữ liệu Ames Housing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58368" y="3977640"/>
            <a:ext cx="1280160" cy="0"/>
          </a:xfrm>
          <a:prstGeom prst="line">
            <a:avLst/>
          </a:prstGeom>
          <a:noFill/>
          <a:ln w="38100">
            <a:solidFill>
              <a:srgbClr val="E6A7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Huỳnh Kiện Khải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7C4"/>
                </a:solidFill>
              </a:rPr>
              <a:t>Khoa Công nghệ Thông tin — Trường Đại học Sài Gòn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4173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</a:rPr>
              <a:t>Giới thiệu bài toán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463040"/>
            <a:ext cx="457200" cy="45720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14173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</a:rPr>
              <a:t>Dữ liệu &amp; Kiểm toán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463040"/>
            <a:ext cx="457200" cy="45720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14173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</a:rPr>
              <a:t>Khám phá dữ liệu (EDA)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2971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</a:rPr>
              <a:t>Lựa chọn đặc trưng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97680" y="283464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017520"/>
            <a:ext cx="457200" cy="45720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48056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074920" y="2971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</a:rPr>
              <a:t>Tiền xử lý dữ liệu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46720" y="283464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017520"/>
            <a:ext cx="457200" cy="45720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823960" y="2971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</a:rPr>
              <a:t>Mô hình &amp; Thí nghiệm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3891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45262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</a:rPr>
              <a:t>Kết quả cuối trên tập kiểm tra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297680" y="43891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0560" y="4572000"/>
            <a:ext cx="457200" cy="45720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48056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5074920" y="45262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</a:rPr>
              <a:t>Phân tích lỗi &amp; Hạn chế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046720" y="43891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8823960" y="45262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</a:rPr>
              <a:t>Kết luận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Giới thiệu bài toán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6675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E5C4A"/>
                </a:solidFill>
              </a:rPr>
              <a:t>Bài toán: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A1F"/>
                </a:solidFill>
              </a:rPr>
              <a:t>Dự đoán giá bán nhà (SalePrice) từ đặc điểm căn nhà — hồi quy trên dữ liệu bảng.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E5C4A"/>
                </a:solidFill>
              </a:rPr>
              <a:t>Vì sao quan trọng: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A1F"/>
                </a:solidFill>
              </a:rPr>
              <a:t>Định giá bất động sản ảnh hưởng người mua, người bán, tổ chức tín dụng.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E5C4A"/>
                </a:solidFill>
              </a:rPr>
              <a:t>Bộ dữ liệu: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A1F"/>
                </a:solidFill>
              </a:rPr>
              <a:t>Ames Housing (Kaggle House Prices) — 1460 căn nhà, 79 đặc trưng, Ames, Iowa (2006–2010).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E5C4A"/>
                </a:solidFill>
              </a:rPr>
              <a:t>Mục tiêu nghiên cứu: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3434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6A7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427939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1F"/>
                </a:solidFill>
              </a:rPr>
              <a:t>Quy trình tiền xử lý không rò rỉ thông tin (train/val/test)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48463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6A7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478231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1F"/>
                </a:solidFill>
              </a:rPr>
              <a:t>So sánh Ridge Regression (tuyến tính) vs XGBoost (cây tăng cường)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53492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6A7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528523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1F"/>
                </a:solidFill>
              </a:rPr>
              <a:t>Phân tích lỗi để hiểu giới hạn thực tiễn của mô hình</a:t>
            </a:r>
            <a:endParaRPr lang="en-US" sz="1350" dirty="0"/>
          </a:p>
        </p:txBody>
      </p:sp>
      <p:pic>
        <p:nvPicPr>
          <p:cNvPr id="12" name="Image 0" descr="poster_assets/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023360" cy="40233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Dữ liệu &amp; Kiểm toán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303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Đặc điểm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Giá trị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Số dòng gốc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1460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Số đặc trưng gốc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79 (36 số, 43 hạng mục)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Dòng trùng lặp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Cột có missing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Ngoại lai đã loại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 (Id=524, 1299 — Partial sale)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Chia train/val/test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1020 / 219 / 219 (seed=42)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17920" y="1188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C4A"/>
                </a:solidFill>
              </a:rPr>
              <a:t>Missing đáng chú ý (% dòng thiếu)</a:t>
            </a:r>
            <a:endParaRPr lang="en-US" sz="15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645920"/>
          <a:ext cx="5394960" cy="914400"/>
        </p:xfrm>
        <a:graphic>
          <a:graphicData uri="http://schemas.openxmlformats.org/drawingml/2006/table">
            <a:tbl>
              <a:tblPr/>
              <a:tblGrid>
                <a:gridCol w="1798320"/>
                <a:gridCol w="1798320"/>
                <a:gridCol w="1798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Cột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7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% thiếu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7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Ý nghĩa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7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PoolQC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99.4%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Không có hồ bơi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MiscFeature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96.0%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Không có tiện ích đặc biệt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Alley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93.4%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Không có lối hẻm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MasVnrType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59.2%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Không ốp mặt tiền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217920" y="393192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3CD"/>
          </a:solidFill>
          <a:ln w="12700">
            <a:solidFill>
              <a:srgbClr val="E6A70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0" y="40233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1F"/>
                </a:solidFill>
              </a:rPr>
              <a:t>Phần lớn missing mang tính "ngữ nghĩa" (nhà không có đặc điểm đó), không phải lỗi nhập liệu — quyết định: điền giá trị 0/"None", không dùng median/mode mặc định.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Khám phá dữ liệu (chỉ trên train)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pic>
        <p:nvPicPr>
          <p:cNvPr id="5" name="Image 0" descr="poster_assets/n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6675120" cy="5120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06640" y="1188720"/>
            <a:ext cx="42976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5C4A"/>
                </a:solidFill>
              </a:rPr>
              <a:t>Phát hiện chính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</a:rPr>
              <a:t>• SalePrice lệch phải (skew=1.73) → log1p còn 0.15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</a:rPr>
              <a:t>• Top tương quan: OverallQual (0.79), GrLivArea (0.69), GarageCars (0.64)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</a:rPr>
              <a:t>• ExterQual, FireplaceQu: bậc thang tăng rõ theo chất lượng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</a:rPr>
              <a:t>• Phát hiện 2 ngoại lai đã biết của dataset (GrLivArea lớn, giá thấp bất thường, Partial sale)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Lựa chọn đặc trưng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C4A"/>
                </a:solidFill>
              </a:rPr>
              <a:t>79 đặc trưng gốc → 71 đặc trưng chọn lọc theo 9 nhóm nghiệp vụ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1F"/>
                </a:solidFill>
              </a:rPr>
              <a:t>Khu đất (11)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16352" y="169164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16352" y="16916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1F"/>
                </a:solidFill>
              </a:rPr>
              <a:t>Vị trí (3)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84064" y="169164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4064" y="16916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1F"/>
                </a:solidFill>
              </a:rPr>
              <a:t>Chất lượng nhà (17)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51776" y="169164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51776" y="16916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1F"/>
                </a:solidFill>
              </a:rPr>
              <a:t>Móng/Tầng hầm (11)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19488" y="169164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19488" y="16916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1F"/>
                </a:solidFill>
              </a:rPr>
              <a:t>Hệ thống (4)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4688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1F"/>
                </a:solidFill>
              </a:rPr>
              <a:t>Diện tích sinh hoạt (13)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16352" y="246888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16352" y="24688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1F"/>
                </a:solidFill>
              </a:rPr>
              <a:t>Garage (7)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84064" y="246888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84064" y="24688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1F"/>
                </a:solidFill>
              </a:rPr>
              <a:t>Đường vào (1)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51776" y="246888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51776" y="24688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1F"/>
                </a:solidFill>
              </a:rPr>
              <a:t>Giao dịch (4)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11064240" cy="2468880"/>
          </a:xfrm>
          <a:prstGeom prst="roundRect">
            <a:avLst>
              <a:gd name="adj" fmla="val 2963"/>
            </a:avLst>
          </a:prstGeom>
          <a:solidFill>
            <a:srgbClr val="FFF3CD"/>
          </a:solidFill>
          <a:ln w="12700">
            <a:solidFill>
              <a:srgbClr val="E6A7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370332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A6D00"/>
                </a:solidFill>
              </a:rPr>
              <a:t>Đối chiếu ngược với EDA toàn bộ 79 cột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8 cột loại đúng (tín hiệu yếu): PoolArea, PoolQC, Fence, MiscFeature, MiscVal, EnclosedPorch, 3SsnPorch, ScreenPorch
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5E20"/>
                </a:solidFill>
              </a:rPr>
              <a:t>4 cột bổ sung lại (tín hiệu bị bỏ sót): Fireplaces (corr=0.46), FireplaceQu (η²=0.30), WoodDeckSF (corr=0.33), OpenPorchSF (corr=0.32)
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Tiền xử lý dữ liệu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6492240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3246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Bước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Xử lý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18 cột chất lượng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Ordinal encode: Po&lt;Fa&lt;TA&lt;Gd&lt;Ex...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MasVnrArea, GarageYrBlt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Điền 0 khi thiếu (không tồn tại)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LotFrontage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Median-impute — học từ train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22 cột danh định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One-Hot Encoding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49 cột số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StandardScaler — học từ train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1143000"/>
            <a:ext cx="4297680" cy="1920240"/>
          </a:xfrm>
          <a:prstGeom prst="roundRect">
            <a:avLst>
              <a:gd name="adj" fmla="val 4762"/>
            </a:avLst>
          </a:prstGeom>
          <a:solidFill>
            <a:srgbClr val="E8F5E9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0" y="128016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5C4A"/>
                </a:solidFill>
              </a:rPr>
              <a:t>Kiểm chứng không rò rỉ
</a:t>
            </a:r>
            <a:pPr algn="ctr" indent="0" marL="0">
              <a:buNone/>
            </a:pPr>
            <a:r>
              <a:rPr lang="en-US" sz="2800" b="1" dirty="0">
                <a:solidFill>
                  <a:srgbClr val="1B5E20"/>
                </a:solidFill>
              </a:rPr>
              <a:t>PASSED
</a:t>
            </a:r>
            <a:pPr algn="ctr" indent="0" marL="0">
              <a:buNone/>
            </a:pPr>
            <a:r>
              <a:rPr lang="en-US" sz="1250" dirty="0">
                <a:solidFill>
                  <a:srgbClr val="1F2A1F"/>
                </a:solidFill>
              </a:rPr>
              <a:t>Toàn bộ tham số (impute, scale, one-hot) chỉ học từ train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3291840"/>
            <a:ext cx="42976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0" y="338328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5C4A"/>
                </a:solidFill>
              </a:rPr>
              <a:t>205
</a:t>
            </a:r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đặc trưng sau mã hóa</a:t>
            </a:r>
            <a:endParaRPr lang="en-US" sz="3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(49 số + 156 one-hot)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Mô hình &amp; Thí nghiệm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pic>
        <p:nvPicPr>
          <p:cNvPr id="5" name="Image 0" descr="poster_assets/rmsle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943600" cy="512064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280160"/>
          <a:ext cx="50292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RMSLE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Hằng số (trung bình)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0.4060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XGBoost (mặc định)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0.1267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Linear Regression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0.1143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Ridge (α=30) — chọn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0.1155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XGBoost (đã tune)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0.1245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675120" y="4480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C4A"/>
                </a:solidFill>
              </a:rPr>
              <a:t>Vì sao chọn Ridge thay vì Linear Regression (RMSLE nhỉnh hơn)?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675120" y="49377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1F"/>
                </a:solidFill>
              </a:rPr>
              <a:t>Linear Regression: hệ số bị chi phối bởi mức hạng mục hiếm (phương sai cao). Ridge (regularization): hệ số ổn định, OverallQual/GrLivArea lên top đầu — khớp EDA.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Kết quả cuối trên tập kiểm tra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</a:rPr>
              <a:t>Test mở đúng 1 lần (219 mẫu, chưa từng dùng để chỉnh mô hình)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5C4A"/>
                </a:solidFill>
              </a:rPr>
              <a:t>0.1301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RMSLE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146304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15087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5C4A"/>
                </a:solidFill>
              </a:rPr>
              <a:t>$14,280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240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MAE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20640" y="146304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15087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5C4A"/>
                </a:solidFill>
              </a:rPr>
              <a:t>0.943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240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R²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718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1F"/>
                </a:solidFill>
              </a:rPr>
              <a:t>95% CI (bootstrap 1000 lần): [0.099, 0.159] — chồng lấp với val → không overfit nghiêm trọng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148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5E20"/>
                </a:solidFill>
              </a:rPr>
              <a:t>So với tiêu chí thành công đã đề ra: RMSLE giảm từ 0.406 → 0.130 (giảm 68% so với baseline tầm thường).</a:t>
            </a:r>
            <a:endParaRPr lang="en-US" sz="1350" dirty="0"/>
          </a:p>
        </p:txBody>
      </p:sp>
      <p:pic>
        <p:nvPicPr>
          <p:cNvPr id="17" name="Image 0" descr="poster_assets/test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371600"/>
            <a:ext cx="4572000" cy="45720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Phân tích lỗi &amp; Hạn chế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FF3CD"/>
          </a:solidFill>
          <a:ln w="12700">
            <a:solidFill>
              <a:srgbClr val="E6A7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2801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6D00"/>
                </a:solidFill>
              </a:rPr>
              <a:t>6/10 </a:t>
            </a:r>
            <a:pPr indent="0" marL="0">
              <a:buNone/>
            </a:pPr>
            <a:r>
              <a:rPr lang="en-US" sz="1500" dirty="0">
                <a:solidFill>
                  <a:srgbClr val="1F2A1F"/>
                </a:solidFill>
              </a:rPr>
              <a:t>dự đoán sai nhiều nhất trên val đều có SaleCondition ≠ Normal (Abnorml/Partial)
</a:t>
            </a:r>
            <a:pPr indent="0" marL="0">
              <a:buNone/>
            </a:pPr>
            <a:r>
              <a:rPr lang="en-US" sz="1350" i="1" dirty="0">
                <a:solidFill>
                  <a:srgbClr val="6B6B6B"/>
                </a:solidFill>
              </a:rPr>
              <a:t>Ca cực đoan: nhà $34,900 (rẻ nhất dataset, bán gấp) — dự đoán lệch 131%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20040" cy="32004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971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C4A"/>
                </a:solidFill>
              </a:rPr>
              <a:t>Test chỉ 219 mẫu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971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1F"/>
                </a:solidFill>
              </a:rPr>
              <a:t>Khoảng tin cậy bootstrap còn khá rộng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320040" cy="32004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977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C4A"/>
                </a:solidFill>
              </a:rPr>
              <a:t>Bảng ánh xạ ordinal cố định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1F"/>
                </a:solidFill>
              </a:rPr>
              <a:t>Giá trị mới ngoài bảng sẽ gây lỗi thay vì âm thầm sai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320040" cy="32004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029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983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C4A"/>
                </a:solidFill>
              </a:rPr>
              <a:t>Chỉ 1 thành phố, 1 giai đoạn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983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1F"/>
                </a:solidFill>
              </a:rPr>
              <a:t>Ames, Iowa 2006–2010 — không đại diện thị trường khác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Kết luận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108813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5E20"/>
                </a:solidFill>
              </a:rPr>
              <a:t>✔ 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F2A1F"/>
                </a:solidFill>
              </a:rPr>
              <a:t>Xây dựng thành công pipeline dự đoán giá nhà với kiểm soát rò rỉ nghiêm ngặt qua toàn bộ vòng đời dữ liệu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5E20"/>
                </a:solidFill>
              </a:rPr>
              <a:t>✔ 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F2A1F"/>
                </a:solidFill>
              </a:rPr>
              <a:t>Ridge Regression vượt trội XGBoost (kể cả đã tune) trên dữ liệu bảng quy mô nhỏ — hệ số ổn định, diễn giải được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5E20"/>
                </a:solidFill>
              </a:rPr>
              <a:t>✔ 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F2A1F"/>
                </a:solidFill>
              </a:rPr>
              <a:t>RMSLE test = 0.1301, giảm 68% so với baseline
</a:t>
            </a:r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0E5C4A"/>
                </a:solidFill>
              </a:rPr>
              <a:t>→ Hướng phát triển: 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F2A1F"/>
                </a:solidFill>
              </a:rPr>
              <a:t>đặc trưng tương tác với SaleCondition, stacking Ridge+XGBoost, nested cross-validation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486400"/>
            <a:ext cx="10881360" cy="0"/>
          </a:xfrm>
          <a:prstGeom prst="line">
            <a:avLst/>
          </a:prstGeom>
          <a:noFill/>
          <a:ln w="12700">
            <a:solidFill>
              <a:srgbClr val="E0E0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6B6B"/>
                </a:solidFill>
              </a:rPr>
              <a:t>Cảm ơn đã theo dõi — Huỳnh Kiện Khải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2026-09-27T06:02:57Z</dcterms:created>
  <dcterms:modified xsi:type="dcterms:W3CDTF">2026-09-27T06:02:57Z</dcterms:modified>
</cp:coreProperties>
</file>
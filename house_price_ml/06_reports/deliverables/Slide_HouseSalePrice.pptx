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73045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12188952" cy="2651760"/>
          </a:xfrm>
          <a:prstGeom prst="rect">
            <a:avLst/>
          </a:prstGeom>
          <a:solidFill>
            <a:srgbClr val="0A4A3B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548640"/>
            <a:ext cx="164592" cy="164592"/>
          </a:xfrm>
          <a:prstGeom prst="ellipse">
            <a:avLst/>
          </a:prstGeom>
          <a:solidFill>
            <a:srgbClr val="E6A70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2760" y="548640"/>
            <a:ext cx="164592" cy="164592"/>
          </a:xfrm>
          <a:prstGeom prst="ellipse">
            <a:avLst/>
          </a:prstGeom>
          <a:solidFill>
            <a:srgbClr val="E6A700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0" y="548640"/>
            <a:ext cx="164592" cy="164592"/>
          </a:xfrm>
          <a:prstGeom prst="ellipse">
            <a:avLst/>
          </a:prstGeom>
          <a:solidFill>
            <a:srgbClr val="E6A700"/>
          </a:solidFill>
          <a:ln/>
        </p:spPr>
      </p:sp>
      <p:sp>
        <p:nvSpPr>
          <p:cNvPr id="6" name="Shape 4"/>
          <p:cNvSpPr/>
          <p:nvPr/>
        </p:nvSpPr>
        <p:spPr>
          <a:xfrm>
            <a:off x="9875520" y="1325880"/>
            <a:ext cx="164592" cy="164592"/>
          </a:xfrm>
          <a:prstGeom prst="ellipse">
            <a:avLst/>
          </a:prstGeom>
          <a:solidFill>
            <a:srgbClr val="E6A700"/>
          </a:solidFill>
          <a:ln/>
        </p:spPr>
      </p:sp>
      <p:sp>
        <p:nvSpPr>
          <p:cNvPr id="7" name="Shape 5"/>
          <p:cNvSpPr/>
          <p:nvPr/>
        </p:nvSpPr>
        <p:spPr>
          <a:xfrm>
            <a:off x="10652760" y="1325880"/>
            <a:ext cx="164592" cy="164592"/>
          </a:xfrm>
          <a:prstGeom prst="ellipse">
            <a:avLst/>
          </a:prstGeom>
          <a:solidFill>
            <a:srgbClr val="E6A700"/>
          </a:solidFill>
          <a:ln/>
        </p:spPr>
      </p:sp>
      <p:sp>
        <p:nvSpPr>
          <p:cNvPr id="8" name="Shape 6"/>
          <p:cNvSpPr/>
          <p:nvPr/>
        </p:nvSpPr>
        <p:spPr>
          <a:xfrm>
            <a:off x="11430000" y="1325880"/>
            <a:ext cx="164592" cy="164592"/>
          </a:xfrm>
          <a:prstGeom prst="ellipse">
            <a:avLst/>
          </a:prstGeom>
          <a:solidFill>
            <a:srgbClr val="E6A7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10312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đoán Giá Nhà bằng Mô hình Học Máy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DE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Ridge Regression và XGBoost trên bộ dữ liệu Ames Housing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58368" y="3977640"/>
            <a:ext cx="1280160" cy="0"/>
          </a:xfrm>
          <a:prstGeom prst="line">
            <a:avLst/>
          </a:prstGeom>
          <a:noFill/>
          <a:ln w="38100">
            <a:solidFill>
              <a:srgbClr val="E6A7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572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Huỳnh Kiện Khải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937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DE7C4"/>
                </a:solidFill>
              </a:rPr>
              <a:t>Khoa Công nghệ Thông tin — Trường Đại học Sài Gòn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trình bày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1612880" y="137160"/>
            <a:ext cx="320040" cy="320040"/>
          </a:xfrm>
          <a:prstGeom prst="ellipse">
            <a:avLst/>
          </a:prstGeom>
          <a:solidFill>
            <a:srgbClr val="E6A70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8016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4173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1F"/>
                </a:solidFill>
              </a:rPr>
              <a:t>Giới thiệu bài toán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28016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1463040"/>
            <a:ext cx="457200" cy="45720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8056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14173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1F"/>
                </a:solidFill>
              </a:rPr>
              <a:t>Dữ liệu &amp; Kiểm toán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28016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1463040"/>
            <a:ext cx="457200" cy="45720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823960" y="14173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1F"/>
                </a:solidFill>
              </a:rPr>
              <a:t>Khám phá dữ liệu (EDA)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283464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3017520"/>
            <a:ext cx="457200" cy="45720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2971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1F"/>
                </a:solidFill>
              </a:rPr>
              <a:t>Lựa chọn đặc trưng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283464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3017520"/>
            <a:ext cx="457200" cy="45720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48056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074920" y="2971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1F"/>
                </a:solidFill>
              </a:rPr>
              <a:t>Tiền xử lý dữ liệu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046720" y="283464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0" y="3017520"/>
            <a:ext cx="457200" cy="45720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823960" y="2971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1F"/>
                </a:solidFill>
              </a:rPr>
              <a:t>Mô hình &amp; Thí nghiệm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438912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31520" y="4572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325880" y="452628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1F"/>
                </a:solidFill>
              </a:rPr>
              <a:t>Kết quả cuối trên tập kiểm tra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297680" y="438912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80560" y="4572000"/>
            <a:ext cx="457200" cy="45720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480560" y="4572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8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5074920" y="452628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1F"/>
                </a:solidFill>
              </a:rPr>
              <a:t>Phân tích lỗi &amp; Hạn chế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046720" y="438912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29600" y="4572000"/>
            <a:ext cx="457200" cy="45720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229600" y="4572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9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8823960" y="452628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1F"/>
                </a:solidFill>
              </a:rPr>
              <a:t>Kết luận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17500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Giới thiệu bài toán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1612880" y="137160"/>
            <a:ext cx="320040" cy="320040"/>
          </a:xfrm>
          <a:prstGeom prst="ellipse">
            <a:avLst/>
          </a:prstGeom>
          <a:solidFill>
            <a:srgbClr val="E6A7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097280"/>
            <a:ext cx="6675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0E5C4A"/>
                </a:solidFill>
              </a:rPr>
              <a:t>Bài toán: </a:t>
            </a:r>
            <a:r>
              <a:rPr lang="en-US" sz="1600" dirty="0">
                <a:solidFill>
                  <a:srgbClr val="1F2A1F"/>
                </a:solidFill>
              </a:rPr>
              <a:t>Dự đoán giá bán nhà (SalePrice) từ đặc điểm căn nhà — hồi quy trên dữ liệu bảng.
</a:t>
            </a:r>
            <a:r>
              <a:rPr lang="en-US" sz="1600" b="1" dirty="0">
                <a:solidFill>
                  <a:srgbClr val="0E5C4A"/>
                </a:solidFill>
              </a:rPr>
              <a:t>Vì sao quan trọng: </a:t>
            </a:r>
            <a:r>
              <a:rPr lang="en-US" sz="1600" dirty="0">
                <a:solidFill>
                  <a:srgbClr val="1F2A1F"/>
                </a:solidFill>
              </a:rPr>
              <a:t>Định giá bất động sản ảnh hưởng người mua, người bán, tổ chức tín dụng.
</a:t>
            </a:r>
            <a:r>
              <a:rPr lang="en-US" sz="1600" b="1" dirty="0">
                <a:solidFill>
                  <a:srgbClr val="0E5C4A"/>
                </a:solidFill>
              </a:rPr>
              <a:t>Bộ dữ liệu: </a:t>
            </a:r>
            <a:r>
              <a:rPr lang="en-US" sz="1600" dirty="0">
                <a:solidFill>
                  <a:srgbClr val="1F2A1F"/>
                </a:solidFill>
              </a:rPr>
              <a:t>Ames Housing (Kaggle House Prices) — 1460 căn nhà, 79 đặc trưng, Ames, Iowa (2006–2010).
</a:t>
            </a:r>
            <a:r>
              <a:rPr lang="en-US" sz="1600" b="1" dirty="0">
                <a:solidFill>
                  <a:srgbClr val="0E5C4A"/>
                </a:solidFill>
              </a:rPr>
              <a:t>Mục tiêu nghiên cứu: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510921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6A7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43000" y="5040630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A1F"/>
                </a:solidFill>
              </a:rPr>
              <a:t>Quy trình tiền xử lý không rò rỉ thông tin (train/val/test)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562356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6A7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5554980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A1F"/>
                </a:solidFill>
              </a:rPr>
              <a:t>So sánh Ridge Regression (tuyến tính) vs XGBoost (cây tăng cường)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612427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6A7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6055698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A1F"/>
                </a:solidFill>
              </a:rPr>
              <a:t>Phân tích lỗi để hiểu giới hạn thực tiễn của mô hình</a:t>
            </a:r>
            <a:endParaRPr lang="en-US" sz="1350" dirty="0"/>
          </a:p>
        </p:txBody>
      </p:sp>
      <p:pic>
        <p:nvPicPr>
          <p:cNvPr id="12" name="Image 0" descr="poster_assets/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188720"/>
            <a:ext cx="4023360" cy="40233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17500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Dữ liệu &amp; Kiểm toán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1612880" y="137160"/>
            <a:ext cx="320040" cy="320040"/>
          </a:xfrm>
          <a:prstGeom prst="ellipse">
            <a:avLst/>
          </a:prstGeom>
          <a:solidFill>
            <a:srgbClr val="E6A700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303520" cy="320040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Đặc điểm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C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Giá trị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C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Số dòng gốc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1460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Số đặc trưng gốc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79 (36 số, 43 hạng mục)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Dòng trùng lặp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Cột có missing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Ngoại lai đã loại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 (Id=524, 1299 — Partial sale)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Chia train/val/test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1020 / 219 / 219 (seed=42)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0" y="11887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5C4A"/>
                </a:solidFill>
              </a:rPr>
              <a:t>Missing đáng chú ý (% dòng thiếu)</a:t>
            </a:r>
            <a:endParaRPr lang="en-US" sz="15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645920"/>
          <a:ext cx="5394960" cy="1935480"/>
        </p:xfrm>
        <a:graphic>
          <a:graphicData uri="http://schemas.openxmlformats.org/drawingml/2006/table">
            <a:tbl>
              <a:tblPr/>
              <a:tblGrid>
                <a:gridCol w="1798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8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8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Cột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7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% thiếu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7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</a:rPr>
                        <a:t>Ý nghĩa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7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PoolQC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99.4%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Không có hồ bơi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MiscFeature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96.0%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Không có tiện ích đặc biệt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Alley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93.4%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Không có lối hẻm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MasVnrType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59.2%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Không ốp mặt tiền</a:t>
                      </a:r>
                      <a:endParaRPr lang="en-US" sz="125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7920" y="393192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FF3CD"/>
          </a:solidFill>
          <a:ln w="12700">
            <a:solidFill>
              <a:srgbClr val="E6A7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40233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</a:rPr>
              <a:t>Phần lớn missing mang tính "ngữ nghĩa" (nhà không có đặc điểm đó), không phải lỗi </a:t>
            </a:r>
            <a:r>
              <a:rPr lang="en-US" sz="1300" dirty="0" err="1">
                <a:solidFill>
                  <a:srgbClr val="1F2A1F"/>
                </a:solidFill>
              </a:rPr>
              <a:t>nhập</a:t>
            </a:r>
            <a:r>
              <a:rPr lang="en-US" sz="1300" dirty="0">
                <a:solidFill>
                  <a:srgbClr val="1F2A1F"/>
                </a:solidFill>
              </a:rPr>
              <a:t> </a:t>
            </a:r>
            <a:r>
              <a:rPr lang="en-US" sz="1300" dirty="0" err="1">
                <a:solidFill>
                  <a:srgbClr val="1F2A1F"/>
                </a:solidFill>
              </a:rPr>
              <a:t>liệu</a:t>
            </a:r>
            <a:r>
              <a:rPr lang="en-US" sz="1300" dirty="0">
                <a:solidFill>
                  <a:srgbClr val="1F2A1F"/>
                </a:solidFill>
              </a:rPr>
              <a:t> </a:t>
            </a:r>
            <a:r>
              <a:rPr lang="en-US" sz="1300" dirty="0" err="1">
                <a:solidFill>
                  <a:srgbClr val="1F2A1F"/>
                </a:solidFill>
              </a:rPr>
              <a:t>cho</a:t>
            </a:r>
            <a:r>
              <a:rPr lang="en-US" sz="1300" dirty="0">
                <a:solidFill>
                  <a:srgbClr val="1F2A1F"/>
                </a:solidFill>
              </a:rPr>
              <a:t> </a:t>
            </a:r>
            <a:r>
              <a:rPr lang="en-US" sz="1300" dirty="0" err="1">
                <a:solidFill>
                  <a:srgbClr val="1F2A1F"/>
                </a:solidFill>
              </a:rPr>
              <a:t>nên</a:t>
            </a:r>
            <a:r>
              <a:rPr lang="en-US" sz="1300" dirty="0">
                <a:solidFill>
                  <a:srgbClr val="1F2A1F"/>
                </a:solidFill>
              </a:rPr>
              <a:t> quyết định: điền giá trị 0/"None", không dùng median/mode mặc định.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17500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Khám phá dữ liệu (chỉ trên train)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1612880" y="137160"/>
            <a:ext cx="320040" cy="320040"/>
          </a:xfrm>
          <a:prstGeom prst="ellipse">
            <a:avLst/>
          </a:prstGeom>
          <a:solidFill>
            <a:srgbClr val="E6A700"/>
          </a:solidFill>
          <a:ln/>
        </p:spPr>
      </p:sp>
      <p:pic>
        <p:nvPicPr>
          <p:cNvPr id="5" name="Image 0" descr="poster_assets/n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6675120" cy="5120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E5C4A"/>
                </a:solidFill>
              </a:rPr>
              <a:t>Phát hiện chính
</a:t>
            </a:r>
            <a:r>
              <a:rPr lang="en-US" sz="1400" dirty="0">
                <a:solidFill>
                  <a:srgbClr val="1F2A1F"/>
                </a:solidFill>
              </a:rPr>
              <a:t>• SalePrice lệch phải (skew=1.73) → log1p còn 0.15
• Top tương quan: OverallQual (0.79), GrLivArea (0.69), GarageCars (0.64)
• ExterQual, FireplaceQu: bậc thang tăng rõ theo chất lượng
• Phát hiện 2 ngoại lai đã biết của dataset (GrLivArea lớn, giá thấp bất thường, Partial sale)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17500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Lựa chọn đặc trưng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1612880" y="137160"/>
            <a:ext cx="320040" cy="320040"/>
          </a:xfrm>
          <a:prstGeom prst="ellipse">
            <a:avLst/>
          </a:prstGeom>
          <a:solidFill>
            <a:srgbClr val="E6A7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5C4A"/>
                </a:solidFill>
              </a:rPr>
              <a:t>79 đặc trưng gốc → 71 đặc trưng chọn lọc theo 9 nhóm nghiệp vụ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1031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E5C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9164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A1F"/>
                </a:solidFill>
              </a:rPr>
              <a:t>Khu đất (11)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16352" y="1691640"/>
            <a:ext cx="21031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E5C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16352" y="169164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A1F"/>
                </a:solidFill>
              </a:rPr>
              <a:t>Vị trí (3)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84064" y="1691640"/>
            <a:ext cx="21031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E5C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84064" y="169164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A1F"/>
                </a:solidFill>
              </a:rPr>
              <a:t>Chất lượng nhà (17)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51776" y="1691640"/>
            <a:ext cx="21031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E5C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51776" y="169164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A1F"/>
                </a:solidFill>
              </a:rPr>
              <a:t>Móng/Tầng hầm (11)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19488" y="1691640"/>
            <a:ext cx="21031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E5C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19488" y="169164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A1F"/>
                </a:solidFill>
              </a:rPr>
              <a:t>Hệ thống (4)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468880"/>
            <a:ext cx="21031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E5C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46888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A1F"/>
                </a:solidFill>
              </a:rPr>
              <a:t>Diện tích sinh hoạt (13)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16352" y="2468880"/>
            <a:ext cx="21031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E5C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816352" y="246888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A1F"/>
                </a:solidFill>
              </a:rPr>
              <a:t>Garage (7)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84064" y="2468880"/>
            <a:ext cx="21031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E5C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84064" y="246888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A1F"/>
                </a:solidFill>
              </a:rPr>
              <a:t>Đường vào (1)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51776" y="2468880"/>
            <a:ext cx="21031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E5C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51776" y="246888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A1F"/>
                </a:solidFill>
              </a:rPr>
              <a:t>Giao dịch (4)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566160"/>
            <a:ext cx="11064240" cy="2468880"/>
          </a:xfrm>
          <a:prstGeom prst="roundRect">
            <a:avLst>
              <a:gd name="adj" fmla="val 2963"/>
            </a:avLst>
          </a:prstGeom>
          <a:solidFill>
            <a:srgbClr val="FFF3CD"/>
          </a:solidFill>
          <a:ln w="12700">
            <a:solidFill>
              <a:srgbClr val="E6A7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370332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8A6D00"/>
                </a:solidFill>
              </a:rPr>
              <a:t>Đối </a:t>
            </a:r>
            <a:r>
              <a:rPr lang="en-US" sz="1600" b="1" dirty="0" err="1">
                <a:solidFill>
                  <a:srgbClr val="8A6D00"/>
                </a:solidFill>
              </a:rPr>
              <a:t>chiếu</a:t>
            </a:r>
            <a:r>
              <a:rPr lang="en-US" sz="1600" b="1" dirty="0">
                <a:solidFill>
                  <a:srgbClr val="8A6D00"/>
                </a:solidFill>
              </a:rPr>
              <a:t> </a:t>
            </a:r>
            <a:r>
              <a:rPr lang="en-US" sz="1600" b="1" dirty="0" err="1">
                <a:solidFill>
                  <a:srgbClr val="8A6D00"/>
                </a:solidFill>
              </a:rPr>
              <a:t>với</a:t>
            </a:r>
            <a:r>
              <a:rPr lang="en-US" sz="1600" b="1" dirty="0">
                <a:solidFill>
                  <a:srgbClr val="8A6D00"/>
                </a:solidFill>
              </a:rPr>
              <a:t> EDA toàn bộ 79 cột
</a:t>
            </a:r>
            <a:r>
              <a:rPr lang="en-US" sz="1400" dirty="0">
                <a:solidFill>
                  <a:srgbClr val="000000"/>
                </a:solidFill>
              </a:rPr>
              <a:t>8 cột loại đúng (tín hiệu yếu): PoolArea, PoolQC, Fence, MiscFeature, MiscVal, EnclosedPorch, 3SsnPorch, ScreenPorch
</a:t>
            </a:r>
            <a:r>
              <a:rPr lang="en-US" sz="1400" b="1" dirty="0">
                <a:solidFill>
                  <a:srgbClr val="1B5E20"/>
                </a:solidFill>
              </a:rPr>
              <a:t>4 cột bổ sung lại (tín hiệu bị bỏ sót): Fireplaces (corr=0.46), FireplaceQu (η²=0.30), WoodDeckSF (corr=0.33), OpenPorchSF (corr=0.32)
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7500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Tiền xử lý dữ liệu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1612880" y="137160"/>
            <a:ext cx="320040" cy="320040"/>
          </a:xfrm>
          <a:prstGeom prst="ellipse">
            <a:avLst/>
          </a:prstGeom>
          <a:solidFill>
            <a:srgbClr val="E6A700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6001756"/>
              </p:ext>
            </p:extLst>
          </p:nvPr>
        </p:nvGraphicFramePr>
        <p:xfrm>
          <a:off x="548640" y="1143000"/>
          <a:ext cx="6492240" cy="2633472"/>
        </p:xfrm>
        <a:graphic>
          <a:graphicData uri="http://schemas.openxmlformats.org/drawingml/2006/table">
            <a:tbl>
              <a:tblPr/>
              <a:tblGrid>
                <a:gridCol w="3246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Bước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C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Xử lý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C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18 cột chất lượng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Ordinal encode: Po&lt;Fa&lt;TA&lt;Gd&lt;Ex...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MasVnrArea, GarageYrBlt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Điền 0 khi thiếu (không tồn tại)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LotFrontage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Median-impute (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</a:rPr>
                        <a:t>học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</a:rPr>
                        <a:t>từ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 train)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22 cột danh định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One-Hot Encoding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49 cột số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 err="1">
                          <a:solidFill>
                            <a:srgbClr val="000000"/>
                          </a:solidFill>
                        </a:rPr>
                        <a:t>StandardScaler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 (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</a:rPr>
                        <a:t>học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</a:rPr>
                        <a:t>từ</a:t>
                      </a:r>
                      <a:r>
                        <a:rPr lang="en-US" sz="1400">
                          <a:solidFill>
                            <a:srgbClr val="000000"/>
                          </a:solidFill>
                        </a:rPr>
                        <a:t> train)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315200" y="1143000"/>
            <a:ext cx="4297680" cy="1920240"/>
          </a:xfrm>
          <a:prstGeom prst="roundRect">
            <a:avLst>
              <a:gd name="adj" fmla="val 4762"/>
            </a:avLst>
          </a:prstGeom>
          <a:solidFill>
            <a:srgbClr val="E8F5E9"/>
          </a:solidFill>
          <a:ln w="19050">
            <a:solidFill>
              <a:srgbClr val="0E5C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0" y="1280160"/>
            <a:ext cx="3931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5C4A"/>
                </a:solidFill>
              </a:rPr>
              <a:t>Kiểm chứng không rò rỉ
</a:t>
            </a:r>
            <a:r>
              <a:rPr lang="en-US" sz="2800" b="1" dirty="0">
                <a:solidFill>
                  <a:srgbClr val="1B5E20"/>
                </a:solidFill>
              </a:rPr>
              <a:t>PASSED
</a:t>
            </a:r>
            <a:r>
              <a:rPr lang="en-US" sz="1250" dirty="0">
                <a:solidFill>
                  <a:srgbClr val="1F2A1F"/>
                </a:solidFill>
              </a:rPr>
              <a:t>Toàn bộ tham số (impute, scale, one-hot) chỉ học từ train</a:t>
            </a:r>
            <a:endParaRPr lang="en-US" sz="1500" dirty="0"/>
          </a:p>
        </p:txBody>
      </p:sp>
      <p:sp>
        <p:nvSpPr>
          <p:cNvPr id="5" name="Shape 5"/>
          <p:cNvSpPr/>
          <p:nvPr/>
        </p:nvSpPr>
        <p:spPr>
          <a:xfrm>
            <a:off x="7315200" y="3291840"/>
            <a:ext cx="429768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E0D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0" y="3383280"/>
            <a:ext cx="4297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E5C4A"/>
                </a:solidFill>
              </a:rPr>
              <a:t>205
</a:t>
            </a:r>
            <a:r>
              <a:rPr lang="en-US" sz="1300" dirty="0">
                <a:solidFill>
                  <a:srgbClr val="6B6B6B"/>
                </a:solidFill>
              </a:rPr>
              <a:t>đặc trưng sau mã hóa</a:t>
            </a:r>
            <a:endParaRPr lang="en-US" sz="32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6B6B6B"/>
                </a:solidFill>
              </a:rPr>
              <a:t>(49 số + 156 one-hot)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117500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Mô hình &amp; Thí nghiệm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1612880" y="137160"/>
            <a:ext cx="320040" cy="320040"/>
          </a:xfrm>
          <a:prstGeom prst="ellipse">
            <a:avLst/>
          </a:prstGeom>
          <a:solidFill>
            <a:srgbClr val="E6A700"/>
          </a:solidFill>
          <a:ln/>
        </p:spPr>
      </p:sp>
      <p:pic>
        <p:nvPicPr>
          <p:cNvPr id="5" name="Image 0" descr="poster_assets/rmsle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5943600" cy="51206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280160"/>
          <a:ext cx="5029200" cy="3017520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5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C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RMSLE</a:t>
                      </a:r>
                      <a:endParaRPr lang="en-US" sz="15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C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Hằng số (trung bình)</a:t>
                      </a:r>
                      <a:endParaRPr lang="en-US" sz="15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0.4060</a:t>
                      </a:r>
                      <a:endParaRPr lang="en-US" sz="15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XGBoost (mặc định)</a:t>
                      </a:r>
                      <a:endParaRPr lang="en-US" sz="15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0.1267</a:t>
                      </a:r>
                      <a:endParaRPr lang="en-US" sz="15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Linear Regression</a:t>
                      </a:r>
                      <a:endParaRPr lang="en-US" sz="15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0.1143</a:t>
                      </a:r>
                      <a:endParaRPr lang="en-US" sz="15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</a:rPr>
                        <a:t>Ridge (α=30) — chọn</a:t>
                      </a:r>
                      <a:endParaRPr lang="en-US" sz="15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</a:rPr>
                        <a:t>0.1155</a:t>
                      </a:r>
                      <a:endParaRPr lang="en-US" sz="15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XGBoost (đã tune)</a:t>
                      </a:r>
                      <a:endParaRPr lang="en-US" sz="15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</a:rPr>
                        <a:t>0.1245</a:t>
                      </a:r>
                      <a:endParaRPr lang="en-US" sz="1500" dirty="0"/>
                    </a:p>
                  </a:txBody>
                  <a:tcPr>
                    <a:lnL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675120" y="44805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5C4A"/>
                </a:solidFill>
              </a:rPr>
              <a:t>Vì sao chọn Ridge thay vì Linear Regression (RMSLE nhỉnh hơn)?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675120" y="493776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F2A1F"/>
                </a:solidFill>
              </a:rPr>
              <a:t>Linear Regression: hệ số bị chi phối bởi mức hạng mục hiếm (phương sai cao). Ridge (regularization): hệ số ổn định, OverallQual/GrLivArea lên top đầu — khớp EDA.</a:t>
            </a:r>
            <a:endParaRPr lang="en-US" sz="1250" dirty="0"/>
          </a:p>
        </p:txBody>
      </p:sp>
      <p:sp>
        <p:nvSpPr>
          <p:cNvPr id="6" name="Text 5"/>
          <p:cNvSpPr txBox="1"/>
          <p:nvPr/>
        </p:nvSpPr>
        <p:spPr>
          <a:xfrm>
            <a:off x="117500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Kết quả cuối trên tập kiểm tra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1612880" y="137160"/>
            <a:ext cx="320040" cy="320040"/>
          </a:xfrm>
          <a:prstGeom prst="ellipse">
            <a:avLst/>
          </a:prstGeom>
          <a:solidFill>
            <a:srgbClr val="E6A7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</a:rPr>
              <a:t>Test mở đúng 1 lần (219 mẫu, chưa từng dùng để chỉnh mô hình)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103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E5C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5087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E5C4A"/>
                </a:solidFill>
              </a:rPr>
              <a:t>0.1301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402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6B6B"/>
                </a:solidFill>
              </a:rPr>
              <a:t>RMSLE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834640" y="1463040"/>
            <a:ext cx="2103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E5C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34640" y="15087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E5C4A"/>
                </a:solidFill>
              </a:rPr>
              <a:t>$14,280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2402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6B6B"/>
                </a:solidFill>
              </a:rPr>
              <a:t>MAE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20640" y="1463040"/>
            <a:ext cx="2103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E5C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0" y="15087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E5C4A"/>
                </a:solidFill>
              </a:rPr>
              <a:t>0.943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2402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6B6B"/>
                </a:solidFill>
              </a:rPr>
              <a:t>R²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71800"/>
            <a:ext cx="6400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1F"/>
                </a:solidFill>
              </a:rPr>
              <a:t>95% CI (bootstrap 1000 lần): [0.099, 0.159] — chồng lấp với val → không overfit nghiêm trọng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1480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B5E20"/>
                </a:solidFill>
              </a:rPr>
              <a:t>So với tiêu chí thành công đã đề ra: RMSLE giảm từ 0.406 → 0.130 (giảm 68% so với baseline tầm thường).</a:t>
            </a:r>
            <a:endParaRPr lang="en-US" sz="1350" dirty="0"/>
          </a:p>
        </p:txBody>
      </p:sp>
      <p:pic>
        <p:nvPicPr>
          <p:cNvPr id="17" name="Image 0" descr="poster_assets/test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572000" cy="45720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17500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Phân tích lỗi &amp; Hạn chế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1612880" y="137160"/>
            <a:ext cx="320040" cy="320040"/>
          </a:xfrm>
          <a:prstGeom prst="ellipse">
            <a:avLst/>
          </a:prstGeom>
          <a:solidFill>
            <a:srgbClr val="E6A70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FF3CD"/>
          </a:solidFill>
          <a:ln w="12700">
            <a:solidFill>
              <a:srgbClr val="E6A7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2801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8A6D00"/>
                </a:solidFill>
              </a:rPr>
              <a:t>6/10 </a:t>
            </a:r>
            <a:r>
              <a:rPr lang="en-US" sz="1500" dirty="0">
                <a:solidFill>
                  <a:srgbClr val="1F2A1F"/>
                </a:solidFill>
              </a:rPr>
              <a:t>dự đoán sai nhiều nhất trên val đều có SaleCondition ≠ Normal (Abnorml/Partial)
</a:t>
            </a:r>
            <a:r>
              <a:rPr lang="en-US" sz="1350" i="1" dirty="0">
                <a:solidFill>
                  <a:srgbClr val="6B6B6B"/>
                </a:solidFill>
              </a:rPr>
              <a:t>Ca cực đoan: nhà $34,900 (rẻ nhất dataset, bán gấp) — dự đoán lệch 131%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320040" cy="32004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175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9718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5C4A"/>
                </a:solidFill>
              </a:rPr>
              <a:t>Test chỉ 219 mẫu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2971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</a:rPr>
              <a:t>Khoảng tin cậy bootstrap còn khá rộng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320040" cy="32004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9776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5C4A"/>
                </a:solidFill>
              </a:rPr>
              <a:t>Bảng ánh xạ ordinal cố định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3977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</a:rPr>
              <a:t>Giá trị mới ngoài bảng sẽ gây lỗi thay vì âm thầm sai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320040" cy="32004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49834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5C4A"/>
                </a:solidFill>
              </a:rPr>
              <a:t>Chỉ 1 thành phố, 1 giai đoạn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206240" y="4983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</a:rPr>
              <a:t>Ames, Iowa 2006–2010 — không đại diện thị trường khác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7500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Kết luận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1612880" y="137160"/>
            <a:ext cx="320040" cy="320040"/>
          </a:xfrm>
          <a:prstGeom prst="ellipse">
            <a:avLst/>
          </a:prstGeom>
          <a:solidFill>
            <a:srgbClr val="E6A7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1088136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B5E20"/>
                </a:solidFill>
              </a:rPr>
              <a:t>✔ </a:t>
            </a:r>
            <a:r>
              <a:rPr lang="en-US" sz="1550" dirty="0">
                <a:solidFill>
                  <a:srgbClr val="1F2A1F"/>
                </a:solidFill>
              </a:rPr>
              <a:t>Xây dựng thành công pipeline dự đoán giá nhà với kiểm soát rò rỉ nghiêm ngặt qua toàn bộ vòng đời dữ liệu
</a:t>
            </a:r>
            <a:r>
              <a:rPr lang="en-US" sz="1600" b="1" dirty="0">
                <a:solidFill>
                  <a:srgbClr val="1B5E20"/>
                </a:solidFill>
              </a:rPr>
              <a:t>✔ </a:t>
            </a:r>
            <a:r>
              <a:rPr lang="en-US" sz="1550" dirty="0">
                <a:solidFill>
                  <a:srgbClr val="1F2A1F"/>
                </a:solidFill>
              </a:rPr>
              <a:t>Ridge Regression vượt trội XGBoost (kể cả đã tune) trên dữ liệu bảng quy mô nhỏ — hệ số ổn định, diễn giải được
</a:t>
            </a:r>
            <a:r>
              <a:rPr lang="en-US" sz="1600" b="1" dirty="0">
                <a:solidFill>
                  <a:srgbClr val="1B5E20"/>
                </a:solidFill>
              </a:rPr>
              <a:t>✔ </a:t>
            </a:r>
            <a:r>
              <a:rPr lang="en-US" sz="1550" dirty="0">
                <a:solidFill>
                  <a:srgbClr val="1F2A1F"/>
                </a:solidFill>
              </a:rPr>
              <a:t>RMSLE test = 0.1301, giảm 68% so với baseline
</a:t>
            </a:r>
            <a:r>
              <a:rPr lang="en-US" sz="1550" b="1" dirty="0">
                <a:solidFill>
                  <a:srgbClr val="0E5C4A"/>
                </a:solidFill>
              </a:rPr>
              <a:t>→ Hướng phát triển: </a:t>
            </a:r>
            <a:r>
              <a:rPr lang="en-US" sz="1550" dirty="0">
                <a:solidFill>
                  <a:srgbClr val="1F2A1F"/>
                </a:solidFill>
              </a:rPr>
              <a:t>đặc trưng tương tác với SaleCondition, stacking Ridge+XGBoost, nested cross-validation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5486400"/>
            <a:ext cx="10881360" cy="0"/>
          </a:xfrm>
          <a:prstGeom prst="line">
            <a:avLst/>
          </a:prstGeom>
          <a:noFill/>
          <a:ln w="12700">
            <a:solidFill>
              <a:srgbClr val="E0E0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6B6B6B"/>
                </a:solidFill>
              </a:rPr>
              <a:t>Cảm ơn đã theo dõi — Huỳnh Kiện Khải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7500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1099</Words>
  <Application>Microsoft Office PowerPoint</Application>
  <PresentationFormat>Widescreen</PresentationFormat>
  <Paragraphs>150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</cp:lastModifiedBy>
  <cp:revision>5</cp:revision>
  <dcterms:created xsi:type="dcterms:W3CDTF">2026-09-27T06:02:57Z</dcterms:created>
  <dcterms:modified xsi:type="dcterms:W3CDTF">2026-09-27T06:32:00Z</dcterms:modified>
</cp:coreProperties>
</file>